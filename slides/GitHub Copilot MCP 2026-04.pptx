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11.svg" ContentType="image/svg"/>
  <Override PartName="/ppt/media/image25.svg" ContentType="image/svg"/>
  <Override PartName="/ppt/media/image22.svg" ContentType="image/svg"/>
  <Override PartName="/ppt/media/hdphoto1.wdp" ContentType="image/vnd.ms-photo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55791F-E733-471E-8260-A8B219AB9B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nd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rd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37DDFE-F366-4CC5-9141-F90B4FD86B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AC4F9A-5E4F-4068-B3FC-B91929F2D4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183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5616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5790E5-B4FB-4C12-8629-98FBE7D517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2" name="Group 6"/>
          <p:cNvGrpSpPr/>
          <p:nvPr/>
        </p:nvGrpSpPr>
        <p:grpSpPr>
          <a:xfrm>
            <a:off x="0" y="0"/>
            <a:ext cx="12191400" cy="844560"/>
            <a:chOff x="0" y="0"/>
            <a:chExt cx="12191400" cy="844560"/>
          </a:xfrm>
        </p:grpSpPr>
        <p:sp>
          <p:nvSpPr>
            <p:cNvPr id="23" name="Shape 0"/>
            <p:cNvSpPr/>
            <p:nvPr/>
          </p:nvSpPr>
          <p:spPr>
            <a:xfrm>
              <a:off x="0" y="0"/>
              <a:ext cx="2031480" cy="127800"/>
            </a:xfrm>
            <a:prstGeom prst="rect">
              <a:avLst/>
            </a:prstGeom>
            <a:solidFill>
              <a:srgbClr val="ed6c31"/>
            </a:solidFill>
            <a:ln w="12700">
              <a:solidFill>
                <a:srgbClr val="ed6c31">
                  <a:alpha val="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4" name="Shape 1"/>
            <p:cNvSpPr/>
            <p:nvPr/>
          </p:nvSpPr>
          <p:spPr>
            <a:xfrm>
              <a:off x="2031840" y="0"/>
              <a:ext cx="2031480" cy="127800"/>
            </a:xfrm>
            <a:prstGeom prst="rect">
              <a:avLst/>
            </a:prstGeom>
            <a:solidFill>
              <a:srgbClr val="ea9e2f"/>
            </a:solidFill>
            <a:ln w="12700">
              <a:solidFill>
                <a:srgbClr val="ea9e2f">
                  <a:alpha val="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5" name="Shape 2"/>
            <p:cNvSpPr/>
            <p:nvPr/>
          </p:nvSpPr>
          <p:spPr>
            <a:xfrm>
              <a:off x="4064040" y="0"/>
              <a:ext cx="2031480" cy="127800"/>
            </a:xfrm>
            <a:prstGeom prst="rect">
              <a:avLst/>
            </a:prstGeom>
            <a:solidFill>
              <a:srgbClr val="c3af40"/>
            </a:solidFill>
            <a:ln w="12700">
              <a:solidFill>
                <a:srgbClr val="c3af40">
                  <a:alpha val="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6" name="Shape 3"/>
            <p:cNvSpPr/>
            <p:nvPr/>
          </p:nvSpPr>
          <p:spPr>
            <a:xfrm>
              <a:off x="6095880" y="0"/>
              <a:ext cx="2031480" cy="127800"/>
            </a:xfrm>
            <a:prstGeom prst="rect">
              <a:avLst/>
            </a:prstGeom>
            <a:solidFill>
              <a:srgbClr val="4daf64"/>
            </a:solidFill>
            <a:ln w="12700">
              <a:solidFill>
                <a:srgbClr val="4daf64">
                  <a:alpha val="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7" name="Shape 4"/>
            <p:cNvSpPr/>
            <p:nvPr/>
          </p:nvSpPr>
          <p:spPr>
            <a:xfrm>
              <a:off x="8127720" y="0"/>
              <a:ext cx="2031480" cy="127800"/>
            </a:xfrm>
            <a:prstGeom prst="rect">
              <a:avLst/>
            </a:prstGeom>
            <a:solidFill>
              <a:srgbClr val="12a781"/>
            </a:solidFill>
            <a:ln w="12700">
              <a:solidFill>
                <a:srgbClr val="12a781">
                  <a:alpha val="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8" name="Shape 5"/>
            <p:cNvSpPr/>
            <p:nvPr/>
          </p:nvSpPr>
          <p:spPr>
            <a:xfrm>
              <a:off x="10159920" y="0"/>
              <a:ext cx="2031480" cy="127800"/>
            </a:xfrm>
            <a:prstGeom prst="rect">
              <a:avLst/>
            </a:prstGeom>
            <a:solidFill>
              <a:srgbClr val="3391ab"/>
            </a:solidFill>
            <a:ln w="12700">
              <a:solidFill>
                <a:srgbClr val="3391ab">
                  <a:alpha val="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29" name="Image 0" descr="/mnt/data/7d350d0e-03d7-4f3e-a65a-744229334970.png"/>
            <p:cNvPicPr/>
            <p:nvPr/>
          </p:nvPicPr>
          <p:blipFill>
            <a:blip r:embed="rId2"/>
            <a:stretch/>
          </p:blipFill>
          <p:spPr>
            <a:xfrm>
              <a:off x="10959840" y="289800"/>
              <a:ext cx="959760" cy="554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978D1C-6413-4B35-BE6E-CAEC3AA7E6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0E6F1D-34A3-4070-82FF-6905B72DA5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F3E4B9-5746-4694-9A3C-CBFAB53F72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55428F-267B-4934-9A48-AC427EA873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307818-3DA4-4BDF-AC19-9AC570C95B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282D6C-AE9C-4141-A230-3FDDD48F49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705E9A-5BA0-4469-8CF6-F864268D22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183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838080" y="156168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3F6BFB-DDB5-4660-8AF3-B529B56866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73" name="Group 6"/>
          <p:cNvGrpSpPr/>
          <p:nvPr/>
        </p:nvGrpSpPr>
        <p:grpSpPr>
          <a:xfrm>
            <a:off x="0" y="0"/>
            <a:ext cx="12191400" cy="844560"/>
            <a:chOff x="0" y="0"/>
            <a:chExt cx="12191400" cy="844560"/>
          </a:xfrm>
        </p:grpSpPr>
        <p:sp>
          <p:nvSpPr>
            <p:cNvPr id="74" name="Shape 0"/>
            <p:cNvSpPr/>
            <p:nvPr/>
          </p:nvSpPr>
          <p:spPr>
            <a:xfrm>
              <a:off x="0" y="0"/>
              <a:ext cx="2031480" cy="127800"/>
            </a:xfrm>
            <a:prstGeom prst="rect">
              <a:avLst/>
            </a:prstGeom>
            <a:solidFill>
              <a:srgbClr val="ed6c31"/>
            </a:solidFill>
            <a:ln w="12700">
              <a:solidFill>
                <a:srgbClr val="ed6c31">
                  <a:alpha val="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5" name="Shape 1"/>
            <p:cNvSpPr/>
            <p:nvPr/>
          </p:nvSpPr>
          <p:spPr>
            <a:xfrm>
              <a:off x="2031840" y="0"/>
              <a:ext cx="2031480" cy="127800"/>
            </a:xfrm>
            <a:prstGeom prst="rect">
              <a:avLst/>
            </a:prstGeom>
            <a:solidFill>
              <a:srgbClr val="ea9e2f"/>
            </a:solidFill>
            <a:ln w="12700">
              <a:solidFill>
                <a:srgbClr val="ea9e2f">
                  <a:alpha val="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6" name="Shape 2"/>
            <p:cNvSpPr/>
            <p:nvPr/>
          </p:nvSpPr>
          <p:spPr>
            <a:xfrm>
              <a:off x="4064040" y="0"/>
              <a:ext cx="2031480" cy="127800"/>
            </a:xfrm>
            <a:prstGeom prst="rect">
              <a:avLst/>
            </a:prstGeom>
            <a:solidFill>
              <a:srgbClr val="c3af40"/>
            </a:solidFill>
            <a:ln w="12700">
              <a:solidFill>
                <a:srgbClr val="c3af40">
                  <a:alpha val="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7" name="Shape 3"/>
            <p:cNvSpPr/>
            <p:nvPr/>
          </p:nvSpPr>
          <p:spPr>
            <a:xfrm>
              <a:off x="6095880" y="0"/>
              <a:ext cx="2031480" cy="127800"/>
            </a:xfrm>
            <a:prstGeom prst="rect">
              <a:avLst/>
            </a:prstGeom>
            <a:solidFill>
              <a:srgbClr val="4daf64"/>
            </a:solidFill>
            <a:ln w="12700">
              <a:solidFill>
                <a:srgbClr val="4daf64">
                  <a:alpha val="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8" name="Shape 4"/>
            <p:cNvSpPr/>
            <p:nvPr/>
          </p:nvSpPr>
          <p:spPr>
            <a:xfrm>
              <a:off x="8127720" y="0"/>
              <a:ext cx="2031480" cy="127800"/>
            </a:xfrm>
            <a:prstGeom prst="rect">
              <a:avLst/>
            </a:prstGeom>
            <a:solidFill>
              <a:srgbClr val="12a781"/>
            </a:solidFill>
            <a:ln w="12700">
              <a:solidFill>
                <a:srgbClr val="12a781">
                  <a:alpha val="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9" name="Shape 5"/>
            <p:cNvSpPr/>
            <p:nvPr/>
          </p:nvSpPr>
          <p:spPr>
            <a:xfrm>
              <a:off x="10159920" y="0"/>
              <a:ext cx="2031480" cy="127800"/>
            </a:xfrm>
            <a:prstGeom prst="rect">
              <a:avLst/>
            </a:prstGeom>
            <a:solidFill>
              <a:srgbClr val="3391ab"/>
            </a:solidFill>
            <a:ln w="12700">
              <a:solidFill>
                <a:srgbClr val="3391ab">
                  <a:alpha val="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80" name="Image 0" descr="/mnt/data/7d350d0e-03d7-4f3e-a65a-744229334970.png"/>
            <p:cNvPicPr/>
            <p:nvPr/>
          </p:nvPicPr>
          <p:blipFill>
            <a:blip r:embed="rId2"/>
            <a:stretch/>
          </p:blipFill>
          <p:spPr>
            <a:xfrm>
              <a:off x="10959840" y="289800"/>
              <a:ext cx="959760" cy="5547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svg"/><Relationship Id="rId9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microsoft.com/office/2007/relationships/hdphoto" Target="../media/hdphoto1.wdp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sv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svg"/><Relationship Id="rId10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image" Target="../media/image12.jpe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6" descr="A bridge with cables and lights&#10;&#10;Description automatically generated"/>
          <p:cNvPicPr/>
          <p:nvPr/>
        </p:nvPicPr>
        <p:blipFill>
          <a:blip r:embed="rId1">
            <a:alphaModFix amt="30000"/>
          </a:blip>
          <a:stretch/>
        </p:blipFill>
        <p:spPr>
          <a:xfrm>
            <a:off x="-36000" y="-38880"/>
            <a:ext cx="12191760" cy="687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25840" y="86400"/>
            <a:ext cx="11257200" cy="269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Como o GitHub Copilot + MCPs podem ser úteis</a:t>
            </a:r>
            <a:br>
              <a:rPr sz="3200"/>
            </a:br>
            <a:r>
              <a:rPr lang="pt-BR" sz="3200" b="0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no setup inicial e documentação de novas aplicações?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862560" y="3126960"/>
            <a:ext cx="11583000" cy="106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Milton Câmara</a:t>
            </a:r>
            <a:br>
              <a:rPr sz="2400"/>
            </a:b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Microsoft MVP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" name="Picture 1" descr="A black background with white text&#10;&#10;Description automatically generated"/>
          <p:cNvPicPr/>
          <p:nvPr/>
        </p:nvPicPr>
        <p:blipFill>
          <a:blip r:embed="rId2"/>
          <a:srcRect l="0" t="19509" r="32222" b="18657"/>
          <a:stretch/>
        </p:blipFill>
        <p:spPr>
          <a:xfrm>
            <a:off x="6734520" y="5227200"/>
            <a:ext cx="5267880" cy="154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Subtitle 3"/>
          <p:cNvSpPr/>
          <p:nvPr/>
        </p:nvSpPr>
        <p:spPr>
          <a:xfrm>
            <a:off x="862560" y="4030560"/>
            <a:ext cx="11583000" cy="10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Renato Groffe</a:t>
            </a:r>
            <a:br>
              <a:rPr sz="2400"/>
            </a:b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Microsoft MVP, Docker Captain, Grafana Champion, APIsec U Ambassador, MTAC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-36000" y="5040000"/>
            <a:ext cx="12182400" cy="1795680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Renato Groffe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776880" y="11934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Microsoft Most Valuable Professional (MVP)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Docker Captain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Grafana Champion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APISEC U Ambassador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Multi-Plataform Technical Audience Contributor (MTAC)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Arquiteto de Soluções/Software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+20 anos de experiência na área de Tecnologia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3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Community Leader, Autor Técnico e Palestrante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Imagem 3"/>
          <p:cNvPicPr/>
          <p:nvPr/>
        </p:nvPicPr>
        <p:blipFill>
          <a:blip r:embed="rId1"/>
          <a:stretch/>
        </p:blipFill>
        <p:spPr>
          <a:xfrm>
            <a:off x="9441000" y="1138680"/>
            <a:ext cx="2063520" cy="228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Imagem 4" descr="Código QR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9088560" y="3629520"/>
            <a:ext cx="2768040" cy="276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2" descr="http://www.codeisahighway.com/content/images/2015/10/MVP_Logo_Horizontal_Preferred_Cyan300_RGB_300ppi.png"/>
          <p:cNvPicPr/>
          <p:nvPr/>
        </p:nvPicPr>
        <p:blipFill>
          <a:blip r:embed="rId3"/>
          <a:stretch/>
        </p:blipFill>
        <p:spPr>
          <a:xfrm>
            <a:off x="922680" y="5130720"/>
            <a:ext cx="2052720" cy="82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Imagem 7" descr="Placa branca com texto preto sobre fundo azul&#10;&#10;Descrição gerada automaticamente"/>
          <p:cNvPicPr/>
          <p:nvPr/>
        </p:nvPicPr>
        <p:blipFill>
          <a:blip r:embed="rId4"/>
          <a:stretch/>
        </p:blipFill>
        <p:spPr>
          <a:xfrm>
            <a:off x="3107160" y="4806720"/>
            <a:ext cx="1402920" cy="140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m 8"/>
          <p:cNvPicPr/>
          <p:nvPr/>
        </p:nvPicPr>
        <p:blipFill>
          <a:blip r:embed="rId5"/>
          <a:stretch/>
        </p:blipFill>
        <p:spPr>
          <a:xfrm>
            <a:off x="4483800" y="4744440"/>
            <a:ext cx="1600560" cy="160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9" descr="Placa azul com letras brancas&#10;&#10;O conteúdo gerado por IA pode estar incorreto."/>
          <p:cNvPicPr/>
          <p:nvPr/>
        </p:nvPicPr>
        <p:blipFill>
          <a:blip r:embed="rId6"/>
          <a:stretch/>
        </p:blipFill>
        <p:spPr>
          <a:xfrm>
            <a:off x="7493760" y="4487400"/>
            <a:ext cx="1698840" cy="169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Gráfico 10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5720040" y="4531680"/>
            <a:ext cx="2057040" cy="2045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Milton Câmara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776880" y="119340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pt-BR" sz="23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/>
                <a:ea typeface="Roboto"/>
              </a:rPr>
              <a:t>Microsoft Most Valuable Professional (MVP)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pt-BR" sz="23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/>
                <a:ea typeface="Roboto"/>
              </a:rPr>
              <a:t>Head de Engenharia – Robbu Tecnologia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pt-BR" sz="23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/>
                <a:ea typeface="Roboto"/>
              </a:rPr>
              <a:t>Arquiteto de Soluções/Software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pt-BR" sz="23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/>
                <a:ea typeface="Roboto"/>
              </a:rPr>
              <a:t>+20 anos de experiência na área de Tecnologia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pt-BR" sz="23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boto"/>
                <a:ea typeface="Roboto"/>
              </a:rPr>
              <a:t>Community Leader, Autor Técnico e Palestrante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Picture 2" descr="http://www.codeisahighway.com/content/images/2015/10/MVP_Logo_Horizontal_Preferred_Cyan300_RGB_300ppi.png"/>
          <p:cNvPicPr/>
          <p:nvPr/>
        </p:nvPicPr>
        <p:blipFill>
          <a:blip r:embed="rId1"/>
          <a:stretch/>
        </p:blipFill>
        <p:spPr>
          <a:xfrm>
            <a:off x="922680" y="5130720"/>
            <a:ext cx="2052720" cy="82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Picture 4" descr="imagem do perfil"/>
          <p:cNvSpPr/>
          <p:nvPr/>
        </p:nvSpPr>
        <p:spPr>
          <a:xfrm>
            <a:off x="9365040" y="964080"/>
            <a:ext cx="2209320" cy="2209320"/>
          </a:xfrm>
          <a:prstGeom prst="ellipse">
            <a:avLst/>
          </a:prstGeom>
          <a:blipFill rotWithShape="0">
            <a:blip r:embed="rId2"/>
            <a:srcRect/>
            <a:stretch/>
          </a:blipFill>
          <a:ln cap="rnd" w="63500">
            <a:solidFill>
              <a:srgbClr val="333333"/>
            </a:solidFill>
            <a:round/>
          </a:ln>
          <a:effectLst>
            <a:outerShdw blurRad="380880" dir="5400000" dist="291960" rotWithShape="0" sx="-80000" sy="-18000">
              <a:srgbClr val="000000">
                <a:alpha val="22000"/>
              </a:srgbClr>
            </a:outerShdw>
          </a:effectLst>
          <a:scene3d>
            <a:camera prst="orthographicFront"/>
            <a:lightRig dir="t" rig="contrasting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Picture 12"/>
          <p:cNvPicPr/>
          <p:nvPr/>
        </p:nvPicPr>
        <p:blipFill>
          <a:blip r:embed="rId3"/>
          <a:stretch/>
        </p:blipFill>
        <p:spPr>
          <a:xfrm>
            <a:off x="9520920" y="4137840"/>
            <a:ext cx="1917000" cy="188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183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Conteúdos desta apresentação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Espaço Reservado para Texto 2"/>
          <p:cNvSpPr/>
          <p:nvPr/>
        </p:nvSpPr>
        <p:spPr>
          <a:xfrm>
            <a:off x="1227240" y="4596840"/>
            <a:ext cx="9981720" cy="470520"/>
          </a:xfrm>
          <a:prstGeom prst="rect">
            <a:avLst/>
          </a:prstGeom>
          <a:solidFill>
            <a:schemeClr val="tx1">
              <a:lumMod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rIns="146160" tIns="91440" bIns="91440" anchor="t">
            <a:spAutoFit/>
          </a:bodyPr>
          <a:p>
            <a:pPr algn="ctr" defTabSz="932760">
              <a:lnSpc>
                <a:spcPct val="90000"/>
              </a:lnSpc>
              <a:spcBef>
                <a:spcPts val="519"/>
              </a:spcBef>
              <a:tabLst>
                <a:tab algn="l" pos="0"/>
              </a:tabLst>
            </a:pPr>
            <a:r>
              <a:rPr lang="pt-BR" sz="2100" b="1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github.com/renatogroffe/github-copilot-mcps_tech-summit-2026-04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Nosso Propsito"/>
          <p:cNvSpPr/>
          <p:nvPr/>
        </p:nvSpPr>
        <p:spPr>
          <a:xfrm>
            <a:off x="7970760" y="2453040"/>
            <a:ext cx="5099760" cy="15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91000"/>
              </a:lnSpc>
              <a:spcAft>
                <a:spcPts val="11004"/>
              </a:spcAft>
            </a:pPr>
            <a:r>
              <a:rPr lang="pt-BR" sz="3600" b="0" u="none" strike="noStrik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Deixem um</a:t>
            </a:r>
            <a:br>
              <a:rPr sz="3600"/>
            </a:br>
            <a:r>
              <a:rPr lang="pt-BR" sz="3600" b="0" u="none" strike="noStrik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star </a:t>
            </a:r>
            <a:r>
              <a:rPr lang="pt-BR" sz="3600" b="0" u="none" strike="noStrik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Regular"/>
              </a:rPr>
              <a:t>⭐</a:t>
            </a:r>
            <a:r>
              <a:rPr lang="pt-BR" sz="3600" b="0" u="none" strike="noStrik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 </a:t>
            </a:r>
            <a:r>
              <a:rPr lang="en-US" sz="3600" b="0" u="none" strike="noStrik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apoiando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m 13" descr="Ícone&#10;&#10;O conteúdo gerado por IA pode estar incorreto.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100000" colorTemp="11500" contrast="-40000" sat="4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6148080" y="5431680"/>
            <a:ext cx="1073520" cy="107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"/>
          <p:cNvPicPr/>
          <p:nvPr/>
        </p:nvPicPr>
        <p:blipFill>
          <a:blip r:embed="rId3"/>
          <a:stretch/>
        </p:blipFill>
        <p:spPr>
          <a:xfrm>
            <a:off x="4602960" y="5400000"/>
            <a:ext cx="1157040" cy="115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"/>
          <p:cNvPicPr/>
          <p:nvPr/>
        </p:nvPicPr>
        <p:blipFill>
          <a:blip r:embed="rId4"/>
          <a:stretch/>
        </p:blipFill>
        <p:spPr>
          <a:xfrm>
            <a:off x="4387680" y="1260000"/>
            <a:ext cx="3060000" cy="30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183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Agenda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2290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MCP Servers + Produtividade no Desenvolvimento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GitHub Copilot + Prompt files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Exemplos práticos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9" name="Imagem 2" descr="Ícone&#10;&#10;O conteúdo gerado por IA pode estar incorreto.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100000" colorTemp="11500" contrast="-40000" sat="4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6149880" y="4106880"/>
            <a:ext cx="1792440" cy="179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"/>
          <p:cNvPicPr/>
          <p:nvPr/>
        </p:nvPicPr>
        <p:blipFill>
          <a:blip r:embed="rId2"/>
          <a:stretch/>
        </p:blipFill>
        <p:spPr>
          <a:xfrm>
            <a:off x="3888000" y="3960000"/>
            <a:ext cx="1980000" cy="19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183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MCP: uma visão geral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38080" y="1561680"/>
            <a:ext cx="73364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Model Context Protocol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Anunciado pela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Anthropic 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em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Novembro/2024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Passagem oficial do projeto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MCP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para a administração da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Linux Foundation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via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Agentic AI Foundation (AAIF)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em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Dezembro/2025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Uma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padronização 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para simplificar a integração das mais variadas soluções com modelos de Inteligência Artificial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3" name="Imagem 3" descr="Ícone&#10;&#10;O conteúdo gerado por IA pode estar incorreto.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100000" colorTemp="11500" contrast="-40000" sat="4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8775360" y="2214360"/>
            <a:ext cx="2108520" cy="210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Picture 2"/>
          <p:cNvPicPr/>
          <p:nvPr/>
        </p:nvPicPr>
        <p:blipFill>
          <a:blip r:embed="rId2"/>
          <a:stretch/>
        </p:blipFill>
        <p:spPr>
          <a:xfrm>
            <a:off x="8305920" y="4886640"/>
            <a:ext cx="3047760" cy="102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183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MCP: uma visão geral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838080" y="1561680"/>
            <a:ext cx="73364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Analogia com uma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"porta USB"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Protocolo aberto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que enfatiza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flexibilidade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Comunicação via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STDIO x HTTP/Streams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Suporte a desenvolvimento nas principais stacks: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.NET, Java, Node/Typescript, Python, Go, Swift, Kotlin, Ruby...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7" name="Imagem 3" descr="Ícone&#10;&#10;O conteúdo gerado por IA pode estar incorreto.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100000" colorTemp="11500" contrast="-40000" sat="4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8328960" y="2143440"/>
            <a:ext cx="2792880" cy="2792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183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MCP: uma visão geral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38080" y="1561680"/>
            <a:ext cx="615168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MCPs Servers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costumam ser distribuídos como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packages 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(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npm, NuGet...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) ou imagens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Docker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Há a possibilidade de uso também de executáveis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Fácil integração com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Visual Studio Code/GitHub Copilot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Claude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e outras soluções de IA que ofereçam funcionalidades de chat (como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Microsoft Agent Framework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0" name="Imagem 3" descr="Ícone&#10;&#10;O conteúdo gerado por IA pode estar incorreto.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100000" colorTemp="11500" contrast="-40000" sat="4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8980560" y="1194840"/>
            <a:ext cx="1988640" cy="198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Imagem 4" descr="Ícone&#10;&#10;Descrição gerada automaticamente"/>
          <p:cNvPicPr/>
          <p:nvPr/>
        </p:nvPicPr>
        <p:blipFill>
          <a:blip r:embed="rId2"/>
          <a:stretch/>
        </p:blipFill>
        <p:spPr>
          <a:xfrm>
            <a:off x="7916400" y="4541040"/>
            <a:ext cx="1063800" cy="106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Gráfico 5"/>
          <p:cNvPicPr/>
          <p:nvPr/>
        </p:nvPicPr>
        <p:blipFill>
          <a:blip r:embed="rId3"/>
          <a:stretch/>
        </p:blipFill>
        <p:spPr>
          <a:xfrm>
            <a:off x="10595880" y="4563000"/>
            <a:ext cx="1281960" cy="1063800"/>
          </a:xfrm>
          <a:prstGeom prst="rect">
            <a:avLst/>
          </a:prstGeom>
          <a:noFill/>
          <a:ln w="0">
            <a:noFill/>
          </a:ln>
          <a:effectLst>
            <a:glow rad="63360">
              <a:srgbClr val="1465f4">
                <a:alpha val="40000"/>
              </a:srgbClr>
            </a:glow>
          </a:effectLst>
        </p:spPr>
      </p:pic>
      <p:pic>
        <p:nvPicPr>
          <p:cNvPr id="123" name="Imagem 7"/>
          <p:cNvPicPr/>
          <p:nvPr/>
        </p:nvPicPr>
        <p:blipFill>
          <a:blip r:embed="rId4"/>
          <a:stretch/>
        </p:blipFill>
        <p:spPr>
          <a:xfrm>
            <a:off x="8980560" y="4213080"/>
            <a:ext cx="1719720" cy="171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ráfico 8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916400" y="3296160"/>
            <a:ext cx="1347120" cy="106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ráfico 11"/>
          <p:cNvPicPr/>
          <p:nvPr/>
        </p:nvPicPr>
        <p:blipFill>
          <a:blip r:embed="rId7"/>
          <a:stretch/>
        </p:blipFill>
        <p:spPr>
          <a:xfrm>
            <a:off x="9256680" y="3218760"/>
            <a:ext cx="1071360" cy="1071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ráfico 13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585440" y="3116160"/>
            <a:ext cx="1276560" cy="127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183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MCPs + Produtividade no Desenvolvimento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838080" y="1561680"/>
            <a:ext cx="73364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 combinação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Agents + MCPs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pode ser de grande valia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Tarefas podem ser simplificadas numa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IDE 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ou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ferramenta de edição de código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Redução de esforços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Extensões do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VS Code 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contam até com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MCP Servers 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embutidos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Imagem 3" descr="Ícone&#10;&#10;O conteúdo gerado por IA pode estar incorreto.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100000" colorTemp="11500" contrast="-40000" sat="4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8583840" y="1970280"/>
            <a:ext cx="2383920" cy="238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Imagem 4" descr="Ícone&#10;&#10;Descrição gerada automaticamente"/>
          <p:cNvPicPr/>
          <p:nvPr/>
        </p:nvPicPr>
        <p:blipFill>
          <a:blip r:embed="rId2"/>
          <a:stretch/>
        </p:blipFill>
        <p:spPr>
          <a:xfrm>
            <a:off x="9595440" y="4154400"/>
            <a:ext cx="1757880" cy="175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183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GitHub Copilot + Prompt Files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838080" y="1476000"/>
            <a:ext cx="73364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Exemplos de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prompts reutilizáveis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para execução de tarefas comuns de desenvolvimento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Arquivo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markdown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que segue um formato específico e cujo nome termina com o sufixo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.prompt.md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Maior produtividade e potencial de customização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indo além do que templates e wizards em IDEs oferecem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Ainda em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public preview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(Abril/2026)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3" name="Imagem 10" descr="Ícone&#10;&#10;Descrição gerada automaticamente"/>
          <p:cNvPicPr/>
          <p:nvPr/>
        </p:nvPicPr>
        <p:blipFill>
          <a:blip r:embed="rId1"/>
          <a:stretch/>
        </p:blipFill>
        <p:spPr>
          <a:xfrm>
            <a:off x="9595440" y="4154400"/>
            <a:ext cx="1757880" cy="175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"/>
          <p:cNvPicPr/>
          <p:nvPr/>
        </p:nvPicPr>
        <p:blipFill>
          <a:blip r:embed="rId2"/>
          <a:stretch/>
        </p:blipFill>
        <p:spPr>
          <a:xfrm>
            <a:off x="8748000" y="2088000"/>
            <a:ext cx="2232000" cy="223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8080" y="183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Conteúdos desta apresentação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Espaço Reservado para Texto 1"/>
          <p:cNvSpPr/>
          <p:nvPr/>
        </p:nvSpPr>
        <p:spPr>
          <a:xfrm>
            <a:off x="1227240" y="4596840"/>
            <a:ext cx="9981720" cy="470520"/>
          </a:xfrm>
          <a:prstGeom prst="rect">
            <a:avLst/>
          </a:prstGeom>
          <a:solidFill>
            <a:schemeClr val="tx1">
              <a:lumMod val="5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6160" rIns="146160" tIns="91440" bIns="91440" anchor="t">
            <a:spAutoFit/>
          </a:bodyPr>
          <a:p>
            <a:pPr algn="ctr" defTabSz="932760">
              <a:lnSpc>
                <a:spcPct val="90000"/>
              </a:lnSpc>
              <a:spcBef>
                <a:spcPts val="519"/>
              </a:spcBef>
              <a:tabLst>
                <a:tab algn="l" pos="0"/>
              </a:tabLst>
            </a:pPr>
            <a:r>
              <a:rPr lang="pt-BR" sz="2100" b="1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github.com/renatogroffe/github-copilot-mcps_tech-summit-2026-04</a:t>
            </a:r>
            <a:endParaRPr lang="pt-B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Nosso Propsito 1"/>
          <p:cNvSpPr/>
          <p:nvPr/>
        </p:nvSpPr>
        <p:spPr>
          <a:xfrm>
            <a:off x="7970760" y="2453040"/>
            <a:ext cx="5099760" cy="15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91000"/>
              </a:lnSpc>
              <a:spcAft>
                <a:spcPts val="11004"/>
              </a:spcAft>
            </a:pPr>
            <a:r>
              <a:rPr lang="pt-BR" sz="3600" b="0" u="none" strike="noStrik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Deixem um</a:t>
            </a:r>
            <a:br>
              <a:rPr sz="3600"/>
            </a:br>
            <a:r>
              <a:rPr lang="pt-BR" sz="3600" b="0" u="none" strike="noStrik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star </a:t>
            </a:r>
            <a:r>
              <a:rPr lang="pt-BR" sz="3600" b="0" u="none" strike="noStrik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Regular"/>
              </a:rPr>
              <a:t>⭐</a:t>
            </a:r>
            <a:r>
              <a:rPr lang="pt-BR" sz="3600" b="0" u="none" strike="noStrik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 </a:t>
            </a:r>
            <a:r>
              <a:rPr lang="en-US" sz="3600" b="0" u="none" strike="noStrike">
                <a:solidFill>
                  <a:schemeClr val="dk1">
                    <a:lumMod val="75000"/>
                  </a:schemeClr>
                </a:solidFill>
                <a:effectLst/>
                <a:uFillTx/>
                <a:latin typeface="Maven Pro Black"/>
              </a:rPr>
              <a:t>apoiando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m 1" descr="Ícone&#10;&#10;O conteúdo gerado por IA pode estar incorreto."/>
          <p:cNvPicPr/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100000" colorTemp="11500" contrast="-40000" sat="4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6148080" y="5431680"/>
            <a:ext cx="1073520" cy="107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"/>
          <p:cNvPicPr/>
          <p:nvPr/>
        </p:nvPicPr>
        <p:blipFill>
          <a:blip r:embed="rId2"/>
          <a:stretch/>
        </p:blipFill>
        <p:spPr>
          <a:xfrm>
            <a:off x="4602960" y="5400000"/>
            <a:ext cx="1157040" cy="115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"/>
          <p:cNvPicPr/>
          <p:nvPr/>
        </p:nvPicPr>
        <p:blipFill>
          <a:blip r:embed="rId3"/>
          <a:stretch/>
        </p:blipFill>
        <p:spPr>
          <a:xfrm>
            <a:off x="4387680" y="1260000"/>
            <a:ext cx="3060000" cy="30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38080" y="1850400"/>
            <a:ext cx="10515240" cy="387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72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DEMO TIME!</a:t>
            </a:r>
            <a:br>
              <a:rPr sz="7200"/>
            </a:br>
            <a:br>
              <a:rPr sz="6600"/>
            </a:br>
            <a:r>
              <a:rPr lang="en-US" sz="5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EXEMPLOS PRÁTICOS…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183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Obrigado e n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ão perca o contato!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930600" y="1756080"/>
            <a:ext cx="320544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Renato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Groffe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m 4"/>
          <p:cNvPicPr/>
          <p:nvPr/>
        </p:nvPicPr>
        <p:blipFill>
          <a:blip r:embed="rId1"/>
          <a:stretch/>
        </p:blipFill>
        <p:spPr>
          <a:xfrm>
            <a:off x="2724480" y="1138680"/>
            <a:ext cx="2063520" cy="228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Imagem 6" descr="Código QR&#10;&#10;O conteúdo gerado por IA pode estar incorreto."/>
          <p:cNvPicPr/>
          <p:nvPr/>
        </p:nvPicPr>
        <p:blipFill>
          <a:blip r:embed="rId2"/>
          <a:stretch/>
        </p:blipFill>
        <p:spPr>
          <a:xfrm>
            <a:off x="2372400" y="3629520"/>
            <a:ext cx="2768040" cy="276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Picture 4" descr="imagem do perfil"/>
          <p:cNvSpPr/>
          <p:nvPr/>
        </p:nvSpPr>
        <p:spPr>
          <a:xfrm>
            <a:off x="8071920" y="1343880"/>
            <a:ext cx="2209320" cy="2209320"/>
          </a:xfrm>
          <a:prstGeom prst="ellipse">
            <a:avLst/>
          </a:prstGeom>
          <a:blipFill rotWithShape="0">
            <a:blip r:embed="rId3"/>
            <a:srcRect/>
            <a:stretch/>
          </a:blipFill>
          <a:ln cap="rnd" w="63500">
            <a:solidFill>
              <a:srgbClr val="333333"/>
            </a:solidFill>
            <a:round/>
          </a:ln>
          <a:effectLst>
            <a:outerShdw blurRad="380880" dir="5400000" dist="291960" rotWithShape="0" sx="-80000" sy="-18000">
              <a:srgbClr val="000000">
                <a:alpha val="22000"/>
              </a:srgbClr>
            </a:outerShdw>
          </a:effectLst>
          <a:scene3d>
            <a:camera prst="orthographicFront"/>
            <a:lightRig dir="t" rig="contrasting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Picture 12"/>
          <p:cNvPicPr/>
          <p:nvPr/>
        </p:nvPicPr>
        <p:blipFill>
          <a:blip r:embed="rId4"/>
          <a:stretch/>
        </p:blipFill>
        <p:spPr>
          <a:xfrm>
            <a:off x="7788960" y="3810600"/>
            <a:ext cx="2524680" cy="247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Box 5"/>
          <p:cNvSpPr/>
          <p:nvPr/>
        </p:nvSpPr>
        <p:spPr>
          <a:xfrm>
            <a:off x="6237720" y="1756080"/>
            <a:ext cx="3205440" cy="9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Milton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Câmara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</TotalTime>
  <Application>LibreOffice/25.8.5.2$Linux_X86_64 LibreOffice_project/580$Build-2</Application>
  <AppVersion>15.0000</AppVersion>
  <Words>435</Words>
  <Paragraphs>73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2022-10-26T21:20:52Z</dcterms:created>
  <dc:creator>Marcelo  Adade</dc:creator>
  <dc:description/>
  <dc:language>pt-BR</dc:language>
  <cp:lastModifiedBy/>
  <dcterms:modified xsi:type="dcterms:W3CDTF">2026-04-25T12:23:10Z</dcterms:modified>
  <cp:revision>17</cp:revision>
  <dc:subject/>
  <dc:title>Título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15</vt:i4>
  </property>
</Properties>
</file>